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3952"/>
            <a:ext cx="12188952" cy="54864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126480"/>
            <a:ext cx="210312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04672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SKILL BUILDER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00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24"/>
                </a:solidFill>
                <a:latin typeface="Calibri"/>
              </a:rPr>
              <a:t>FOUNDATION LAYER  —  Short-Term, Skill-Focused Courses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66928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09728" cy="80467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521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Photoshop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996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Industry-standard photo editing, compositing &amp; retouching for print and digital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2"/>
            <a:ext cx="566928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109728" cy="80467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396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Illustrator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Vector graphics, logo creation, typography &amp; brand identity design from scratch.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72384"/>
            <a:ext cx="566928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72384"/>
            <a:ext cx="109728" cy="80467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2724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Video Editing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Professional cutting, colour-grading &amp; export workflows for film and social media.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59936"/>
            <a:ext cx="566928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059936"/>
            <a:ext cx="109728" cy="80467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Motion Graphics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62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Animated titles, explainer videos &amp; social content using After Effects.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47488"/>
            <a:ext cx="566928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047488"/>
            <a:ext cx="109728" cy="80467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023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Web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498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HTML &amp; CSS fundamentals — the building blocks of every digital experience.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097280"/>
            <a:ext cx="5349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143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KEY CHARACTERISTICS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1490472"/>
            <a:ext cx="50292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Duration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8562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Short courses ranging 20–50 hours, designed to deliver results in weeks, not years.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249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523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Single-skill mastery — deep, purposeful training in one craft area per course.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191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Immediate productivity — graduates can begin taking paid work upon completion.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5661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WHO IT'S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9502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– Absolute beginners starting their creative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3525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– Job-seekers needing a quick, monetisable skill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7548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– Working professionals adding a new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566160"/>
            <a:ext cx="2697480" cy="260604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950208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entry point into the Arena ecosystem — every expert creative started right here.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95760" y="62362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002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3952"/>
            <a:ext cx="12188952" cy="54864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126480"/>
            <a:ext cx="210312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6868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SMART PRO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00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24"/>
                </a:solidFill>
                <a:latin typeface="Calibri"/>
              </a:rPr>
              <a:t>CAREER TRACKS  —  Structured Professional Courses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3520440" cy="21031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352044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1978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Graphic Designing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1581912"/>
            <a:ext cx="3200400" cy="25603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3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Duration: ~122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920239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From core design principles to professional brand identity, layouts and visual communication for digital &amp; print media.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79" y="1051560"/>
            <a:ext cx="3520440" cy="21031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79" y="1051560"/>
            <a:ext cx="352044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11978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Web Designing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1" y="1581912"/>
            <a:ext cx="3200400" cy="25603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1609343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Duration: ~100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1" y="1920239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End-to-end web creation: UX thinking, wireframing, responsive design and modern interface tool workflows.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3520440" cy="21031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29000"/>
            <a:ext cx="352044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575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Audio-Video Editing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959352"/>
            <a:ext cx="3200400" cy="25603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867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Duration: ~48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29768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Complete post-production — editing, colour, sound design and export for broadcast, digital and social platforms.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79" y="3429000"/>
            <a:ext cx="3520440" cy="21031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69079" y="3429000"/>
            <a:ext cx="352044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1" y="3575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3D Animation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1" y="3959352"/>
            <a:ext cx="3200400" cy="25603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39867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Duration: Basic → Advanced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1" y="429768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Journey from 3D fundamentals through rigging, texturing, lighting and cinematic rendering techniques in Maya.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051560"/>
            <a:ext cx="39776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1115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PROGRAM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463040"/>
            <a:ext cx="36576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5727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Multi-Module 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892807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Content organised into progressive, themed modules that build on each other systematically.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852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Theory + Lab Blend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17296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Near-equal split between conceptual understanding and hands-on software practice each session.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13308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Defined Job Roles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453127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Each career track maps directly to a recognised industry position with clear entry-level criteria.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5074920"/>
            <a:ext cx="3977639" cy="111556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JOB ROLES UNLOCKED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4498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– Designer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6784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– Video Editor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9070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– 3D Animator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KEY MESSAGE: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779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From raw skill to an employable professional role — this is where careers begin.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0" y="62362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002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3952"/>
            <a:ext cx="12188952" cy="54864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126480"/>
            <a:ext cx="210312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86868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B0024"/>
                </a:solidFill>
                <a:latin typeface="Calibri"/>
              </a:rPr>
              <a:t>AMSP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Arena Multimedia Specialist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FLAGSHIP PROGRAM  —  The most comprehensive creative media qualification Arena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141732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70432"/>
            <a:ext cx="141732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8016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B0024"/>
                </a:solidFill>
                <a:latin typeface="Calibri"/>
              </a:rPr>
              <a:t>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Total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2585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  <a:latin typeface="Calibri"/>
              </a:rPr>
              <a:t>of structured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1170432"/>
            <a:ext cx="141732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19" y="1170432"/>
            <a:ext cx="141732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128016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B0024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Semesters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2585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  <a:latin typeface="Calibri"/>
              </a:rPr>
              <a:t>across 2 full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170432"/>
            <a:ext cx="141732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170432"/>
            <a:ext cx="141732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28016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B002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Disciplines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2585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  <a:latin typeface="Calibri"/>
              </a:rPr>
              <a:t>covered end-to-end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1170432"/>
            <a:ext cx="141732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79" y="1170432"/>
            <a:ext cx="141732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128016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B0024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22585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  <a:latin typeface="Calibri"/>
              </a:rPr>
              <a:t>graduation-ready demo reel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61488"/>
            <a:ext cx="5943600" cy="38404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0720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THE PROGRAM COVERS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46120"/>
            <a:ext cx="2834640" cy="1234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246120"/>
            <a:ext cx="91440" cy="123444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Graphics &amp;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685031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Typography, illustration, brand identity &amp; layout design — the visual language of media.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246120"/>
            <a:ext cx="2834640" cy="1234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7560" y="3246120"/>
            <a:ext cx="91440" cy="123444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UI/UX &amp; Web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3685031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User research, wireframes, interface design &amp; responsive web — building digital products.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36008"/>
            <a:ext cx="2834640" cy="1234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636008"/>
            <a:ext cx="91440" cy="123444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72744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Video &amp; Motion Graphics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0749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Editing, colour grading, sound, motion graphics — telling stories through moving image.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4636008"/>
            <a:ext cx="2834640" cy="1234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4636008"/>
            <a:ext cx="91440" cy="123444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472744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3D Animation &amp; VFX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0749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3D modelling, rigging, rendering, visual effects — the frontier of digital content creation.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1170432"/>
            <a:ext cx="53492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PROGRAM STRUCTURE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581912"/>
            <a:ext cx="50292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Duration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198424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806 hours of curriculum spread across 4 semesters (2 academic years). Each semester builds directly on the skills developed in the previous one.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Format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03580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 mix of theory lectures and hands-on lab sessions — approximately 50/50 — ensuring every concept is practiced, not just understood.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Outcome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408736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Students graduate as full-stack creative professionals, portfolio-ready and employable across all four major pillars of the modern media industry.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Entry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513892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Open to beginners. No prior experience required. Designed to take a student from zero to industry-standard in 24 months.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95760" y="62362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002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3952"/>
            <a:ext cx="12188952" cy="54864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126480"/>
            <a:ext cx="210312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1152144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AMSP — SEMESTER-BY-SEMESTER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0024"/>
                </a:solidFill>
                <a:latin typeface="Calibri"/>
              </a:rPr>
              <a:t>Progressive skill stacking — each semester builds directly on the 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365760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365760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" y="1179576"/>
            <a:ext cx="411480" cy="41148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79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1795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24"/>
                </a:solidFill>
                <a:latin typeface="Calibri"/>
              </a:rPr>
              <a:t>SEMESTER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399031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  <a:latin typeface="Calibri"/>
              </a:rPr>
              <a:t>Foundation in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16733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Graphics, Illustration &amp; Typography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202082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Core design principles — balance, hierarchy, contrast,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36829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Adobe Photoshop &amp; Illustrator for professional visual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71576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Typography theory — typeface selection, spacing, readability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00400"/>
            <a:ext cx="3657600" cy="27432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278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Students leave Semester 1 with the visual vocabulary every creative professional needs.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051560"/>
            <a:ext cx="365760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051560"/>
            <a:ext cx="365760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1179576"/>
            <a:ext cx="411480" cy="41148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1179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11795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24"/>
                </a:solidFill>
                <a:latin typeface="Calibri"/>
              </a:rPr>
              <a:t>SEMESTER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1" y="1399031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  <a:latin typeface="Calibri"/>
              </a:rPr>
              <a:t>Digital Product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6733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Web Design, UI/UX &amp; Responsive Layouts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02082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User experience thinking — empathy maps, user flows, wireframes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36829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Interface design with Figma — prototyping &amp; interactive mockups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71576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Responsive web design — mobile-first principles &amp; breakpoints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200400"/>
            <a:ext cx="3657600" cy="27432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2278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Students learn to design digital products users actually love to 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21608"/>
            <a:ext cx="365760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721608"/>
            <a:ext cx="365760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" y="3849624"/>
            <a:ext cx="411480" cy="41148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8496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38496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24"/>
                </a:solidFill>
                <a:latin typeface="Calibri"/>
              </a:rPr>
              <a:t>SEMESTER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40690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  <a:latin typeface="Calibri"/>
              </a:rPr>
              <a:t>Multimedia 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43434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Video Editing, Motion Graphics &amp; 3D Basics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46908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Professional video editing in Premiere Pro — cut, pacing, rhythm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50383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Colour grading &amp; audio design for cinematic quality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538581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Motion graphics in After Effects — titles, transitions, effects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870448"/>
            <a:ext cx="3657600" cy="27432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Students gain the ability to produce broadcast-quality multimedia content.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21608"/>
            <a:ext cx="365760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3721608"/>
            <a:ext cx="3657600" cy="64008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15968" y="3849624"/>
            <a:ext cx="411480" cy="41148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5968" y="38496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8031" y="38496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24"/>
                </a:solidFill>
                <a:latin typeface="Calibri"/>
              </a:rPr>
              <a:t>SEMESTER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28031" y="40690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  <a:latin typeface="Calibri"/>
              </a:rPr>
              <a:t>Specialisation + Portfolio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43434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Advanced 3D Animation — Maya, Rigging &amp; Rendering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5968" y="46908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Character rigging &amp; skeletal animation in Autodesk Maya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5968" y="50383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Advanced rendering — lighting, materials, ray tracing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538581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– Visual effects compositing — green screen, particle systems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5870448"/>
            <a:ext cx="3657600" cy="27432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5968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Students graduate with a professional portfolio that speaks for itself.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95760" y="62362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002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3952"/>
            <a:ext cx="12188952" cy="54864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126480"/>
            <a:ext cx="210312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9601200" cy="36576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LEARNING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0024"/>
                </a:solidFill>
                <a:latin typeface="Calibri"/>
              </a:rPr>
              <a:t>How students learn — learning by doing, not memorising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3520440" cy="233172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887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402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Theory  :  Lab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060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CCC"/>
                </a:solidFill>
                <a:latin typeface="Calibri"/>
              </a:rPr>
              <a:t>Nearly half of every contact hour is spent doing, creating, building — not passively listening.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078992"/>
            <a:ext cx="6720840" cy="1600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1078992"/>
            <a:ext cx="91440" cy="160020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07007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Theory + Lab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554480"/>
            <a:ext cx="6309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Every concept is immediately reinforced through hands-on software practice. Students see the principle, then apply it — within the same class session. No homework needed to bridge the gap.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871215"/>
            <a:ext cx="6720840" cy="1600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2871215"/>
            <a:ext cx="91440" cy="160020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99923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Project-Based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346703"/>
            <a:ext cx="6309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Assignments are real-world creative briefs, not textbook exercises. Students produce actual deliverables — posters, websites, video reels — solving genuine creative problems from Day 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663440"/>
            <a:ext cx="6720840" cy="1600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0" y="4663440"/>
            <a:ext cx="91440" cy="1600200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4791455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24"/>
                </a:solidFill>
                <a:latin typeface="Calibri"/>
              </a:rPr>
              <a:t>Portfolio &amp; Demo Reel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5138927"/>
            <a:ext cx="6309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Work accumulates into a curated portfolio from the very first semester. By graduation, students hold a polished, industry-standard body of work to present to employers and clients immediately.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84448"/>
            <a:ext cx="3520440" cy="2542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84448"/>
            <a:ext cx="91440" cy="2542032"/>
          </a:xfrm>
          <a:prstGeom prst="rect">
            <a:avLst/>
          </a:prstGeom>
          <a:solidFill>
            <a:srgbClr val="8B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648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WHY IT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005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– Skills become automatic, not theoretical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3982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– Portfolio replaces certificates as proof of 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7914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– Lab mirrors real creative studio environments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1846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– Mistakes happen safely — before client work begins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5778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– Peer critique builds professional communication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687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24"/>
                </a:solidFill>
                <a:latin typeface="Calibri"/>
              </a:rPr>
              <a:t>KEY MESSAGE:  Arena graduates walk into a studio and start creating on Day 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2362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002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